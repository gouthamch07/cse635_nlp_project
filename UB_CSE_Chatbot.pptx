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365760"/>
            <a:ext cx="1280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Buffalo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2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UNIVERSITY OF NEW YORK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28600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of Engineering and Applied Sciences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10515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 CSE Website Chatbot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635 — Natural Language Processing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conversational assistant for the Department of Computer Science &amp; Engineering, covering programs, courses, faculty, research labs, and policies — answered from the official UB CSE website with hybrid retrieval and a knowledge graph.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34924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6F0FB"/>
          </a:solidFill>
          <a:ln w="9525">
            <a:solidFill>
              <a:srgbClr val="005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49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534924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6F0FB"/>
          </a:solidFill>
          <a:ln w="9525">
            <a:solidFill>
              <a:srgbClr val="005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5349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534924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6F0FB"/>
          </a:solidFill>
          <a:ln w="9525">
            <a:solidFill>
              <a:srgbClr val="005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5349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534924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6F0FB"/>
          </a:solidFill>
          <a:ln w="9525">
            <a:solidFill>
              <a:srgbClr val="005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5349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Eval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18320" y="534924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E6F0FB"/>
          </a:solidFill>
          <a:ln w="9525">
            <a:solidFill>
              <a:srgbClr val="005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5349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Gemini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· University at Buffalo · 2025–26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information is scattered across many pages, faculty homepages, syllabi PDFs, and policy documents.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spend time hunting through navigation menus to find one fact (a prereq, a credit count, an instructor).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 the official site is keyword-only and returns full pages, not direct answers.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hallucinate department policies and don't cite a UB source.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783080"/>
            <a:ext cx="5303520" cy="420624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 conversational assistant for UB CSE.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30175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— semantic + exact-match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for relational queries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Source-cited answers — every claim links back to the UB page it came from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guardrails for out-of-scope questions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memory and follow-up support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user query to grounded, cited answer.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3A44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29968" y="228600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94560" y="219456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286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classifier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75888" y="228600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840480" y="219456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286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21808" y="228600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0" y="219456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286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Pinecone + KG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67728" y="228600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132320" y="219456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286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+ lexical + 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13648" y="228600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778240" y="219456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2286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grounded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59568" y="2286000"/>
            <a:ext cx="228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0424160" y="219456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8A4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22860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424160" y="2880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[n] sources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931920"/>
            <a:ext cx="11064240" cy="109728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023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shortcuts: 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out_of_scope </a:t>
            </a:r>
            <a:pPr indent="0" marL="0"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friendly redirect (e.g. Yelp / weather.com).   </a:t>
            </a:r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small_talk </a:t>
            </a:r>
            <a:pPr indent="0" marL="0"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canned reply (no retrieval, no LLM cost).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</a:t>
            </a:r>
            <a:pPr indent="0" marL="0"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(Course / Faculty / Lab / Program) is queried in parallel for relational questions like </a:t>
            </a:r>
            <a:pPr indent="0" marL="0">
              <a:buNone/>
            </a:pPr>
            <a:r>
              <a:rPr lang="en-US" sz="1200" i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“courses Prof X teaches” </a:t>
            </a:r>
            <a:pPr indent="0" marL="0"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pPr indent="0" marL="0">
              <a:buNone/>
            </a:pPr>
            <a:r>
              <a:rPr lang="en-US" sz="1200" i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“labs related to CSE 574”</a:t>
            </a:r>
            <a:pPr indent="0" marL="0"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5212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DETAIL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(sparse, exact tokens) and Pinecone (dense, 768-d Vertex embeddings) run in parallel; their candidates are fused with Reciprocal Rank Fusion. A lexical token-overlap pass boosts exact course-code matches like “CSE 574”, then a BGE bge-reranker-v2-m3 cross-encoder selects the top 8 chunks for the LLM.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2697480" cy="54864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Crawl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crawl of engineering.buffalo.edu/computer-science-engineering with crawl4ai + Playwright (JS-rendered pages) and trafilatura/pypdf for clean text and PDFs. Selected cse.buffalo.edu/~prof/ syllabi added per-URL via add_url.py.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974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783080"/>
            <a:ext cx="2697480" cy="54864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46888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Heading-aware contextual chunker (~280 words, 40-word overlap). Each chunk is prefixed with its breadcrumb + section summary at embed time, but the LLM sees only the clean chunk.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6974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783080"/>
            <a:ext cx="2697480" cy="54864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text-embedding-004 (768-d) via a disk-backed lazy cache keyed on sha1(model | text) — re-crawls only embed new or changed chunks.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783080"/>
            <a:ext cx="26974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1783080"/>
            <a:ext cx="2697480" cy="54864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246888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vectors → Pinecone serverless (us-east-1, namespace default). Sparse → on-disk BM25Okapi pickle. Knowledge-graph entities → Neo4j Aura.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3,230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chunks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5989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6400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5989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17920" y="6400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/ chunk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52560" y="5989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 + Dense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052560" y="64008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index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retrieval &amp; reranking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retrieval signals fused, then two rerank passes for precision.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— Pinecone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text-embedding-004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similarity; great for fuzzy intent like “classes that prepare me for ML jobs” or “labs working on language models”.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4864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— BM25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over chunk 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926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Exact-token retrieval; nails course codes like CSE 574, faculty surnames, building codes — where embeddings smear semantically near matches.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201400" cy="219456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&amp; RERANKING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 Fusion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029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combines the two ranked lists; rank-based, no score scale tuning.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Rerank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5029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Token-overlap boost. Adds 0.25 × overlap to candidates whose tokens match the query — e.g., chunks containing CSE 574 verbatim.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5029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bge-reranker-v2-m3 scores (query, chunk) pairs jointly. Selects top 8 for the final LLM call.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66960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· Live log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66960" y="5029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stage's hits and scores are surfaced in the UI's Retrieval drawer for transparency.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layer answers relational queries that pure RAG can't — “who teaches CSE 574”, “labs related to AI”.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269748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03320" y="269748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18A489"/>
          </a:solidFill>
          <a:ln w="12700">
            <a:solidFill>
              <a:srgbClr val="18A4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69748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6974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TAUGHT_BY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MEMBER_OF_LAB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PART_OF_PROGRAM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PREREQUISITE_OF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384 nodes · 366 relationships across the four entity types.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219456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· Course → Related Labs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walk that pure text RAG cannot answer: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3108960"/>
            <a:ext cx="5029200" cy="1554480"/>
          </a:xfrm>
          <a:prstGeom prst="rect">
            <a:avLst/>
          </a:prstGeom>
          <a:solidFill>
            <a:srgbClr val="0C1118"/>
          </a:solidFill>
          <a:ln w="9525">
            <a:solidFill>
              <a:srgbClr val="003A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2004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(c:Course {code:$code})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&lt;-[:TAUGHT_BY]-(f:Faculty)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-[:MEMBER_OF_LAB]-&gt;(l:Lab)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DISTINCT l.name, l.url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800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the agent's course_related_labs tool when the user asks about a specific course code.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5486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 can answer “CSE 574 connects to the LegoLab and the AI/ML group through its instructors.”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— staying in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scope classifier with friendly, topic-aware redirects.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219456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Cheap keyword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/ token match against three lists.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in_scope: cse, ub, course, faculty, prerequisite, 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small_talk: hi, hello, thanks, how are you, 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out_of_scope blocklist: pizza, weather, sports, hotel, 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486400" cy="219456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LLM fallback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Constrained Gemini call for the ambiguous middle.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keyword fires, a strict zero-shot prompt asks Gemini to emit one of the three labels. Temperature 0, max 8 tokens — fast, deterministic, and recoverable on failure (defaults to in_scope).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2014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17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REDIRECT — example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</a:t>
            </a:r>
            <a:pPr indent="0" marL="0">
              <a:buNone/>
            </a:pPr>
            <a:r>
              <a:rPr lang="en-US" sz="1300" i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best pizza in Buffalo?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</a:t>
            </a:r>
            <a:pPr indent="0" marL="0">
              <a:buNone/>
            </a:pPr>
            <a:r>
              <a:rPr lang="en-US" sz="12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outside my lane — I'm the UB CSE assistant. 🍕 For local Buffalo food spots, </a:t>
            </a:r>
            <a:pPr indent="0" marL="0">
              <a:buNone/>
            </a:pPr>
            <a:r>
              <a:rPr lang="en-US" sz="1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</a:t>
            </a:r>
            <a:pPr indent="0" marL="0">
              <a:buNone/>
            </a:pPr>
            <a:r>
              <a:rPr lang="en-US" sz="12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200" b="1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pPr indent="0" marL="0">
              <a:buNone/>
            </a:pPr>
            <a:r>
              <a:rPr lang="en-US" sz="12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great. But if you have a CSE question — a course, a professor, a degree requirement — I'd love to help with that!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Dialogue &amp; personalized memory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B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· ConversationMemory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12-turn rolling window — enough for follow-ups in a single session.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pronouns and ellipsis: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prerequisites for CSE 574?”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who teaches it?” → resolves “it” to CSE 574.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with the New chat button — no cross-session leakage.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the answer prompt as “Conversation so far”.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4297680"/>
          </a:xfrm>
          <a:prstGeom prst="rect">
            <a:avLst/>
          </a:prstGeom>
          <a:solidFill>
            <a:srgbClr val="F7F9FC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65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· PersonalMemory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personalization toggle keyed by user_id.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9260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facts the user mentions </a:t>
            </a:r>
            <a:endParaRPr lang="en-US" sz="12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(program, year, interests).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answers to repeated queries by </a:t>
            </a:r>
            <a:endParaRPr lang="en-US" sz="12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cache key — bypasses retrieval and LLM on cache hit, dropping TTFT below 200 ms.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a per-user JSON file under </a:t>
            </a:r>
            <a:endParaRPr lang="en-US" sz="1200" dirty="0"/>
          </a:p>
          <a:p>
            <a:pPr lvl="1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data/memory/&lt;user_id&gt;.json — auditable and revocable.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agent — Vertex Gemini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orchestrator over Gemini, with strict grounding and per-claim citations.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gemini-2.5-flash-lite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(Vertex AI, ADC auth).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thinking_budget = 0 — full disable to keep TTFT low.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max_output_tokens = 4096 (final answer), 2048 (plan).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0.2 for answers, 0.1 for tool-call planning.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endpoint /chat/stream emits per-token NDJSON.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over Pinecone + BM25 with reranking. Always available.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course_prereqs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840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lookup of PREREQUISITE_OF chains for a course code.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course_faculty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4709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currently or recently teaching a course (via TAUGHT_BY).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course_related_labs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5577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KG walk to research labs through teaching faculty.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UB-themed FastAPI chat with a real-time retrieval log drawer.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UB.edu institutional look — solid blue header, pennant flag, serif headings, gray sidebar, red Apply Now CTA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screen with 4 prompt cards (MS programs, course, research, degree)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rendering in answers (lists, code, links)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source chips that link to the original UB page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scope pill (green = in_scope, red = out_of_scope, purple = small_talk)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 and total-ms pills below every answer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Slide-in Retrieval log drawer — per-stage hits and scores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Light/dark theme toggle, persistent user_id (localStorage)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fallback at ub_cse_bot/ui/app.py for compatibility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0" y="2057400"/>
            <a:ext cx="420624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1C1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057400"/>
            <a:ext cx="4206240" cy="64008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 · School of Engineering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0" y="2743200"/>
            <a:ext cx="4206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Assistant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03920" y="3072384"/>
            <a:ext cx="1280160" cy="36576"/>
          </a:xfrm>
          <a:prstGeom prst="rect">
            <a:avLst/>
          </a:prstGeom>
          <a:solidFill>
            <a:srgbClr val="18A489"/>
          </a:solidFill>
          <a:ln w="12700">
            <a:solidFill>
              <a:srgbClr val="18A4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32918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CSE 574 about?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18120" y="388620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393192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Learning. Covers supervised / unsupervised, linear/logistic regression, neural nets, SVMs… [1] [2]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18120" y="534924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18A4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5349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in_scope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732520" y="534924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5349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4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ttft 1.3s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692640" y="534924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635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5349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44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3.2s total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818120" y="5760720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UB CSE…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9520" y="6263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of the running chat — see Slide 14 for actual screenshots.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harness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orthogonal evaluators tied directly to the course rubric.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2697480" cy="45720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· context-precision · answer-relevancy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metrics that quantify whether the answer is supported by the retrieved context. Run per question over data/eval/ragas.jsonl.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97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103120"/>
            <a:ext cx="269748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Hit@K + MRR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precision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top-K retrieved chunks contain the answer. Measured against gold relevant_urls in data/eval/retrieval.jsonl.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697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8A48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103120"/>
            <a:ext cx="2697480" cy="457200"/>
          </a:xfrm>
          <a:prstGeom prst="rect">
            <a:avLst/>
          </a:prstGeom>
          <a:solidFill>
            <a:srgbClr val="18A489"/>
          </a:solidFill>
          <a:ln w="12700">
            <a:solidFill>
              <a:srgbClr val="18A4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 distribution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time-to-first-token across the eval set. Rubric target &lt; 2 s; we instrument all stages of the pipeline.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2103120"/>
            <a:ext cx="2697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2103120"/>
            <a:ext cx="26974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scope tests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329184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and prompt-injection prompts; we measure refusal rate and persona stability.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features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rubric-marked bonus implementations, all live in the running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08760" y="2221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+ cross-encoder rerank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rerank after RRF fusion. Lexical token-overlap boost catches exact course codes; BGE bge-reranker-v2-m3 cross-encoder selects the final 8 chunks. Every stage's hits are exposed in the UI's Retrieval log drawer.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4028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40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223760" y="2221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→ related labs (KG)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walk (Course)&lt;-[:TAUGHT_BY]-(Faculty)-[:MEMBER_OF_LAB]-&gt;(Lab) surfaces research labs connected to a queried course through its instructors. Triggered as a tool call on course-code queries.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43484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34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08760" y="4416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memory toggle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PersonalMemory keyed by user_id. Stores user-volunteered facts and caches answers under normalized keys; cache hits skip retrieval+LLM, dropping TTFT under 200 ms on repeats.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425196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434840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434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23760" y="4416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Friendly topic-aware redirects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84632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polite refusal, out-of-scope queries get a tailored hint: pizza → Yelp Buffalo, weather → weather.com, sports → ESPN, etc. Keeps the user successful even off-topic.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14884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FRAMEWORKS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(chat backend)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(legacy fallback)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vanilla JS (custom UI)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657600" cy="214884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VECTOR STORES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23774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serverless (us-east-1)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(BM25Okapi pickle)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text-embedding-004 (768-d)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 + lexical rerank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3657600" cy="214884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RERANKERS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75320" y="23774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Gemini 2.5 Flash-Lite (LLM)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 bge-reranker-v2-m3 (cross-encoder)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(fallback CE)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FlagEmbedding (optional, faster CE)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3657600" cy="214884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&amp; MEMORY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Aura (graph store)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walks for relational queries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ConversationMemory (12-turn buffer)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PersonalMemory (per-user JSON)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4160520"/>
            <a:ext cx="3657600" cy="214884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&amp; EXTRACTION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47091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crawl4ai + Playwright (JS pages)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trafilatura (article extraction)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pdfplumber (PDF parsing)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+ BeautifulSoup (single-URL adds)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4160520"/>
            <a:ext cx="3657600" cy="214884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75320" y="47091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+ datasets (faithfulness/etc.)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Hit@K / MRR / latency suite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via gcloud (Vertex auth)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RUNBOOK.md (operational guide)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placeholder frames — drop in actual UI screenshots before the presentation.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57600" cy="365760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852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screen + prompt cards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103120"/>
            <a:ext cx="3657600" cy="365760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4348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5852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with sources &amp; scope pill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2103120"/>
            <a:ext cx="3657600" cy="365760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3210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5852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log drawer (per-stage scores)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CSE Website Chatbot · CSE 635 NLP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05BBB"/>
          </a:solidFill>
          <a:ln w="12700">
            <a:solidFill>
              <a:srgbClr val="005B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Questions, demo, and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64240" cy="3108960"/>
          </a:xfrm>
          <a:prstGeom prst="rect">
            <a:avLst/>
          </a:prstGeom>
          <a:solidFill>
            <a:srgbClr val="F7F9FC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5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10515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UB CSE assistant covering programs, courses, faculty, and research.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(Pinecone dense + BM25 sparse + RRF + dual rerank) with a transparent stage log in the UI.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for relational queries the text retriever can't answer alone.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out-of-scope guardrails, follow-up dialogue, and opt-in personalized memory.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Gemini 2.5 Flash-Lite for low-TTFT grounded answers with [n] citations.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github.com/Gouthamch07/CSE635_NLP_Project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635 — NLP Project · University at Buffalo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CSE Website Chatbot</dc:title>
  <dc:subject>PptxGenJS Presentation</dc:subject>
  <dc:creator>CSE 635 NLP Project</dc:creator>
  <cp:lastModifiedBy>CSE 635 NLP Project</cp:lastModifiedBy>
  <cp:revision>1</cp:revision>
  <dcterms:created xsi:type="dcterms:W3CDTF">2026-05-05T02:23:41Z</dcterms:created>
  <dcterms:modified xsi:type="dcterms:W3CDTF">2026-05-05T02:23:41Z</dcterms:modified>
</cp:coreProperties>
</file>